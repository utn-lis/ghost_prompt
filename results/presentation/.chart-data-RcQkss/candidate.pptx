
<file path=[Content_Types].xml><?xml version="1.0" encoding="utf-8"?>
<Types xmlns="http://schemas.openxmlformats.org/package/2006/content-types">
  <Default Extension="xml" ContentType="application/vnd.openxmlformats-package.core-properties+xml"/>
  <Default Extension="dat" ContentType="application/x-fontdata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notesSlides/notesSlide2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2b52d12d7164f66" /><Relationship Type="http://schemas.openxmlformats.org/officeDocument/2006/relationships/extended-properties" Target="/docProps/app.xml" Id="Ra3f3658791504d2f" /><Relationship Type="http://schemas.openxmlformats.org/officeDocument/2006/relationships/officeDocument" Target="/ppt/presentation.xml" Id="Rfad741a3380847c4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921a97d458a6453d"/>
  </p:sldMasterIdLst>
  <p:notesMasterIdLst>
    <p:notesMasterId xmlns:r="http://schemas.openxmlformats.org/officeDocument/2006/relationships" r:id="R13dce2f0a6ec4355"/>
  </p:notesMasterIdLst>
  <p:sldIdLst>
    <p:sldId xmlns:r="http://schemas.openxmlformats.org/officeDocument/2006/relationships" id="256" r:id="Rf1f122cc23564b60"/>
    <p:sldId xmlns:r="http://schemas.openxmlformats.org/officeDocument/2006/relationships" id="257" r:id="R80efa5cf43624559"/>
  </p:sldIdLst>
  <p:sldSz cx="12192000" cy="6858000"/>
  <p:notesSz cx="6858000" cy="9144000"/>
  <p:embeddedFontLst>
    <p:embeddedFont>
      <p:font typeface="OpenAI Sans"/>
      <p:regular xmlns:r="http://schemas.openxmlformats.org/officeDocument/2006/relationships" r:id="R83f817f7d78b4772"/>
      <p:bold xmlns:r="http://schemas.openxmlformats.org/officeDocument/2006/relationships" r:id="R03f7babf68d844b2"/>
      <p:italic xmlns:r="http://schemas.openxmlformats.org/officeDocument/2006/relationships" r:id="Rcfd74f5848f549d8"/>
      <p:boldItalic xmlns:r="http://schemas.openxmlformats.org/officeDocument/2006/relationships" r:id="Redb5918176b44d03"/>
    </p:embeddedFont>
  </p:embeddedFontLst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a21828f7dc2418a" /><Relationship Type="http://schemas.openxmlformats.org/officeDocument/2006/relationships/slideMaster" Target="/ppt/slideMasters/slideMaster1.xml" Id="R921a97d458a6453d" /><Relationship Type="http://schemas.openxmlformats.org/officeDocument/2006/relationships/notesMaster" Target="/ppt/notesMasters/notesMaster1.xml" Id="R13dce2f0a6ec4355" /><Relationship Type="http://schemas.openxmlformats.org/officeDocument/2006/relationships/presProps" Target="/ppt/presProps.xml" Id="R301b844f59174fe9" /><Relationship Type="http://schemas.openxmlformats.org/officeDocument/2006/relationships/viewProps" Target="/ppt/viewProps.xml" Id="R79dc86ec1ea14368" /><Relationship Type="http://schemas.openxmlformats.org/officeDocument/2006/relationships/tableStyles" Target="/ppt/tableStyles.xml" Id="Rdbd54e1e580849a2" /><Relationship Type="http://schemas.openxmlformats.org/officeDocument/2006/relationships/font" Target="/ppt/fonts/font.dat" Id="R83f817f7d78b4772" /><Relationship Type="http://schemas.openxmlformats.org/officeDocument/2006/relationships/font" Target="/ppt/fonts/font2.dat" Id="R03f7babf68d844b2" /><Relationship Type="http://schemas.openxmlformats.org/officeDocument/2006/relationships/font" Target="/ppt/fonts/font3.dat" Id="Rcfd74f5848f549d8" /><Relationship Type="http://schemas.openxmlformats.org/officeDocument/2006/relationships/font" Target="/ppt/fonts/font4.dat" Id="Redb5918176b44d03" /><Relationship Type="http://schemas.openxmlformats.org/officeDocument/2006/relationships/slide" Target="/ppt/slides/slide1.xml" Id="Rf1f122cc23564b60" /><Relationship Type="http://schemas.openxmlformats.org/officeDocument/2006/relationships/slide" Target="/ppt/slides/slide2.xml" Id="R80efa5cf4362455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39e726834b9490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Default Codex Theme">
  <a:themeElements>
    <a:clrScheme name="Codex Colors">
      <a:dk1>
        <a:srgbClr val="000000"/>
      </a:dk1>
      <a:lt1>
        <a:srgbClr val="FFFFFF"/>
      </a:lt1>
      <a:dk2>
        <a:srgbClr val="00264F"/>
      </a:dk2>
      <a:lt2>
        <a:srgbClr val="D0EDFA"/>
      </a:lt2>
      <a:accent1>
        <a:srgbClr val="6DCBF4"/>
      </a:accent1>
      <a:accent2>
        <a:srgbClr val="3D8DFF"/>
      </a:accent2>
      <a:accent3>
        <a:srgbClr val="47E2C2"/>
      </a:accent3>
      <a:accent4>
        <a:srgbClr val="85DF7B"/>
      </a:accent4>
      <a:accent5>
        <a:srgbClr val="F7CB59"/>
      </a:accent5>
      <a:accent6>
        <a:srgbClr val="F67576"/>
      </a:accent6>
      <a:hlink>
        <a:srgbClr val="000000"/>
      </a:hlink>
      <a:folHlink>
        <a:srgbClr val="0097A7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Codex Colors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0720b2e549a44ae" /><Relationship Type="http://schemas.openxmlformats.org/officeDocument/2006/relationships/notesMaster" Target="/ppt/notesMasters/notesMaster1.xml" Id="R97cea769dcdc4d8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0eb14e79ce241db" /><Relationship Type="http://schemas.openxmlformats.org/officeDocument/2006/relationships/notesMaster" Target="/ppt/notesMasters/notesMaster1.xml" Id="R9fbd0b84ab1d441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Modelo: Qwen/Qwen2.5-Coder-7B-Instruct. Se conserva el prefijo, se fuerza top-2 en una posición y se continúa greedy. Lookahead de 12 tokens incluyendo la decisión forzada. El lookahead sirve para ordenar y no determina éxito. Imagen esquemática generada con la herramienta integrada de imágenes. Fuente: experiments-2.ipynb del usuario y pestaña Metodología de https://docs.google.com/spreadsheets/d/1M5npFrFTIBJVB8QdpX9CXVhdMSO4l4Apd48I37OHDeE/edit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Fuente: pestañas Resumen, Presupuesto y Metodología de https://docs.google.com/spreadsheets/d/1M5npFrFTIBJVB8QdpX9CXVhdMSO4l4Apd48I37OHDeE/edit . Consulta 7 septiembre 2026. 20 problemas fallidos con baseline greedy. Con k=5: semántico 10/20, entropía 10/20, margen 10/20 y aleatorio 6/20. Resultado preliminar, no afirmación de significancia. Con k=1: semántico 5, entropía 8, margen 6, azar 4. No se ejecutó HumanEval+. Igual número de ramas no implica igual costo total. HumanEval/26 excluido por desarrollo.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809a3dab8f7447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284d2754e72402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fcd64ad45a34b8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1c975e853164b3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6364e9d518046e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3b84546621b4651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fb014afc09d4b7c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eacc524133141c2" /></Relationships>
</file>

<file path=ppt/slideLayouts/slideLayout1.xml><?xml version="1.0" encoding="utf-8"?>
<p:sldLayout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83004A5-B645-655E-5362-4217D55892E1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93700" y="1041400"/>
            <a:ext cx="7493000" cy="249149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C57031B1-59B2-C235-9FDD-8050418A5FD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93700" y="4356100"/>
            <a:ext cx="5537200" cy="16383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E851FDE-9E0B-568C-1CBA-E72B86CC06E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9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9CCD18F-3BF6-A3EE-DAAE-66BD406D7E8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10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186992D-ADA6-5A23-EBD5-6BEF0A2E61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CDBB333F-FFCF-AA9E-7AC0-64DB02353F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DCC3060-FADA-4310-30F9-24EC34B5AA8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0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9E7B047-08E6-29C1-F101-C084D555A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1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DE564C6-8AA0-935D-A919-07AFA15B335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12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ABE46D3-8F05-1C7F-3EC7-20BFCC76C251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6256618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39D2C21-36BF-25E7-8E97-1D17F313F7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14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0E090C5-E6C8-92F2-E8C2-A840B8F1807D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43180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5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C6D2D15-AEC2-9F99-316F-C37AF863965D}"/>
              </a:ext>
            </a:extLst>
          </p:cNvPr>
          <p:cNvSpPr>
            <a:spLocks xmlns:a="http://schemas.openxmlformats.org/drawingml/2006/main" noGrp="1"/>
          </p:cNvSpPr>
          <p:nvPr>
            <p:ph idx="11"/>
          </p:nvPr>
        </p:nvSpPr>
        <p:spPr>
          <a:xfrm xmlns:a="http://schemas.openxmlformats.org/drawingml/2006/main">
            <a:off x="8232273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5.xml><?xml version="1.0" encoding="utf-8"?>
<p:sldLayout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213811"/>
            <a:ext cx="2595934" cy="378058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8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4F70A9DA-D783-0627-3166-E13B68C2ADAC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3334966" y="2213811"/>
            <a:ext cx="2595934" cy="3780589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5BF2647-8E8C-CAEE-896D-0E1567AF7E99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6264413" y="2213811"/>
            <a:ext cx="2595934" cy="378058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10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37C6F143-221A-9959-8FBA-B9B1DB6602D0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9205679" y="2213811"/>
            <a:ext cx="2595934" cy="3780589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B1182C5-F22B-2641-06DE-4EDACA3C1DD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9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97A4AD5-204B-38FD-4F33-270C2F9F5CC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5CF9983-3FD7-FAE4-9F0B-B2CE806D89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7.xml><?xml version="1.0" encoding="utf-8"?>
<p:sldLayout xmlns:p="http://schemas.openxmlformats.org/presentationml/2006/main" preserve="1" userDrawn="1">
  <p:cSld name="Footer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012CBCC-C555-8C11-443D-86D6F7A45CF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8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69B260B-B882-BF7F-1BB1-28B9578A25A2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</p:spTree>
  </p:cSld>
</p:sldLayout>
</file>

<file path=ppt/slideLayouts/slideLayout8.xml><?xml version="1.0" encoding="utf-8"?>
<p:sldLayout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118c8df5b8f400a" /><Relationship Type="http://schemas.openxmlformats.org/officeDocument/2006/relationships/slideLayout" Target="/ppt/slideLayouts/slideLayout1.xml" Id="Rf089a7fb315549f3" /><Relationship Type="http://schemas.openxmlformats.org/officeDocument/2006/relationships/slideLayout" Target="/ppt/slideLayouts/slideLayout2.xml" Id="Ra93c724a0a2f4da3" /><Relationship Type="http://schemas.openxmlformats.org/officeDocument/2006/relationships/slideLayout" Target="/ppt/slideLayouts/slideLayout3.xml" Id="Rc55407d9e5b2449b" /><Relationship Type="http://schemas.openxmlformats.org/officeDocument/2006/relationships/slideLayout" Target="/ppt/slideLayouts/slideLayout4.xml" Id="R50809cfe6be54a6d" /><Relationship Type="http://schemas.openxmlformats.org/officeDocument/2006/relationships/slideLayout" Target="/ppt/slideLayouts/slideLayout5.xml" Id="R5bb240186cb94c80" /><Relationship Type="http://schemas.openxmlformats.org/officeDocument/2006/relationships/slideLayout" Target="/ppt/slideLayouts/slideLayout6.xml" Id="R7499aec8e50f4c97" /><Relationship Type="http://schemas.openxmlformats.org/officeDocument/2006/relationships/slideLayout" Target="/ppt/slideLayouts/slideLayout7.xml" Id="Rbbe7b9ce1d8f43b0" /><Relationship Type="http://schemas.openxmlformats.org/officeDocument/2006/relationships/slideLayout" Target="/ppt/slideLayouts/slideLayout8.xml" Id="Rb4c25b0611ac41db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BB87ED2E-D8FF-5C8C-ED50-59BA3091C3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5B0E1CB-6DCA-2E9F-2B74-4309B4084C0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C75650C-2983-5B02-8421-FF181843543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872C88C-1AB3-96BA-C9E5-3435A4BD59B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089a7fb315549f3"/>
    <p:sldLayoutId xmlns:r="http://schemas.openxmlformats.org/officeDocument/2006/relationships" id="2147483650" r:id="Ra93c724a0a2f4da3"/>
    <p:sldLayoutId xmlns:r="http://schemas.openxmlformats.org/officeDocument/2006/relationships" id="2147483651" r:id="Rc55407d9e5b2449b"/>
    <p:sldLayoutId xmlns:r="http://schemas.openxmlformats.org/officeDocument/2006/relationships" id="2147483652" r:id="R50809cfe6be54a6d"/>
    <p:sldLayoutId xmlns:r="http://schemas.openxmlformats.org/officeDocument/2006/relationships" id="2147483653" r:id="R5bb240186cb94c80"/>
    <p:sldLayoutId xmlns:r="http://schemas.openxmlformats.org/officeDocument/2006/relationships" id="2147483654" r:id="R7499aec8e50f4c97"/>
    <p:sldLayoutId xmlns:r="http://schemas.openxmlformats.org/officeDocument/2006/relationships" id="2147483655" r:id="Rbbe7b9ce1d8f43b0"/>
    <p:sldLayoutId xmlns:r="http://schemas.openxmlformats.org/officeDocument/2006/relationships" id="2147483656" r:id="Rb4c25b0611ac41db"/>
  </p:sldLayoutIdLst>
  <p:hf hdr="0" dt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29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xmlns:a="http://schemas.openxmlformats.org/drawingml/2006/main" val="F26B43"/>
          </p15:clr>
        </p15:guide>
        <p15:guide id="2" pos="7680" userDrawn="1">
          <p15:clr>
            <a:srgbClr xmlns:a="http://schemas.openxmlformats.org/drawingml/2006/main" val="F26B43"/>
          </p15:clr>
        </p15:guide>
        <p15:guide id="3" pos="248" userDrawn="1">
          <p15:clr>
            <a:srgbClr xmlns:a="http://schemas.openxmlformats.org/drawingml/2006/main" val="F26B43"/>
          </p15:clr>
        </p15:guide>
        <p15:guide id="4" pos="1264" userDrawn="1">
          <p15:clr>
            <a:srgbClr xmlns:a="http://schemas.openxmlformats.org/drawingml/2006/main" val="F26B43"/>
          </p15:clr>
        </p15:guide>
        <p15:guide id="5" pos="1480" userDrawn="1">
          <p15:clr>
            <a:srgbClr xmlns:a="http://schemas.openxmlformats.org/drawingml/2006/main" val="F26B43"/>
          </p15:clr>
        </p15:guide>
        <p15:guide id="6" pos="2496" userDrawn="1">
          <p15:clr>
            <a:srgbClr xmlns:a="http://schemas.openxmlformats.org/drawingml/2006/main" val="F26B43"/>
          </p15:clr>
        </p15:guide>
        <p15:guide id="7" pos="2712" userDrawn="1">
          <p15:clr>
            <a:srgbClr xmlns:a="http://schemas.openxmlformats.org/drawingml/2006/main" val="F26B43"/>
          </p15:clr>
        </p15:guide>
        <p15:guide id="8" pos="3736" userDrawn="1">
          <p15:clr>
            <a:srgbClr xmlns:a="http://schemas.openxmlformats.org/drawingml/2006/main" val="F26B43"/>
          </p15:clr>
        </p15:guide>
        <p15:guide id="9" pos="3944" userDrawn="1">
          <p15:clr>
            <a:srgbClr xmlns:a="http://schemas.openxmlformats.org/drawingml/2006/main" val="F26B43"/>
          </p15:clr>
        </p15:guide>
        <p15:guide id="10" pos="4968" userDrawn="1">
          <p15:clr>
            <a:srgbClr xmlns:a="http://schemas.openxmlformats.org/drawingml/2006/main" val="F26B43"/>
          </p15:clr>
        </p15:guide>
        <p15:guide id="11" pos="5184" userDrawn="1">
          <p15:clr>
            <a:srgbClr xmlns:a="http://schemas.openxmlformats.org/drawingml/2006/main" val="F26B43"/>
          </p15:clr>
        </p15:guide>
        <p15:guide id="12" pos="6200" userDrawn="1">
          <p15:clr>
            <a:srgbClr xmlns:a="http://schemas.openxmlformats.org/drawingml/2006/main" val="F26B43"/>
          </p15:clr>
        </p15:guide>
        <p15:guide id="13" pos="6416" userDrawn="1">
          <p15:clr>
            <a:srgbClr xmlns:a="http://schemas.openxmlformats.org/drawingml/2006/main" val="F26B43"/>
          </p15:clr>
        </p15:guide>
        <p15:guide id="14" pos="7432" userDrawn="1">
          <p15:clr>
            <a:srgbClr xmlns:a="http://schemas.openxmlformats.org/drawingml/2006/main" val="F26B43"/>
          </p15:clr>
        </p15:guide>
        <p15:guide id="15" orient="horz" userDrawn="1">
          <p15:clr>
            <a:srgbClr xmlns:a="http://schemas.openxmlformats.org/drawingml/2006/main" val="F26B43"/>
          </p15:clr>
        </p15:guide>
        <p15:guide id="17" orient="horz" pos="248" userDrawn="1">
          <p15:clr>
            <a:srgbClr xmlns:a="http://schemas.openxmlformats.org/drawingml/2006/main" val="F26B43"/>
          </p15:clr>
        </p15:guide>
        <p15:guide id="18" orient="horz" pos="656" userDrawn="1">
          <p15:clr>
            <a:srgbClr xmlns:a="http://schemas.openxmlformats.org/drawingml/2006/main" val="F26B43"/>
          </p15:clr>
        </p15:guide>
        <p15:guide id="19" orient="horz" pos="872" userDrawn="1">
          <p15:clr>
            <a:srgbClr xmlns:a="http://schemas.openxmlformats.org/drawingml/2006/main" val="F26B43"/>
          </p15:clr>
        </p15:guide>
        <p15:guide id="20" orient="horz" pos="1280" userDrawn="1">
          <p15:clr>
            <a:srgbClr xmlns:a="http://schemas.openxmlformats.org/drawingml/2006/main" val="F26B43"/>
          </p15:clr>
        </p15:guide>
        <p15:guide id="21" orient="horz" pos="1496" userDrawn="1">
          <p15:clr>
            <a:srgbClr xmlns:a="http://schemas.openxmlformats.org/drawingml/2006/main" val="F26B43"/>
          </p15:clr>
        </p15:guide>
        <p15:guide id="22" orient="horz" pos="1904" userDrawn="1">
          <p15:clr>
            <a:srgbClr xmlns:a="http://schemas.openxmlformats.org/drawingml/2006/main" val="F26B43"/>
          </p15:clr>
        </p15:guide>
        <p15:guide id="23" orient="horz" pos="2120" userDrawn="1">
          <p15:clr>
            <a:srgbClr xmlns:a="http://schemas.openxmlformats.org/drawingml/2006/main" val="F26B43"/>
          </p15:clr>
        </p15:guide>
        <p15:guide id="24" orient="horz" pos="2528" userDrawn="1">
          <p15:clr>
            <a:srgbClr xmlns:a="http://schemas.openxmlformats.org/drawingml/2006/main" val="F26B43"/>
          </p15:clr>
        </p15:guide>
        <p15:guide id="25" orient="horz" pos="2744" userDrawn="1">
          <p15:clr>
            <a:srgbClr xmlns:a="http://schemas.openxmlformats.org/drawingml/2006/main" val="F26B43"/>
          </p15:clr>
        </p15:guide>
        <p15:guide id="26" orient="horz" pos="3152" userDrawn="1">
          <p15:clr>
            <a:srgbClr xmlns:a="http://schemas.openxmlformats.org/drawingml/2006/main" val="F26B43"/>
          </p15:clr>
        </p15:guide>
        <p15:guide id="27" orient="horz" pos="3368" userDrawn="1">
          <p15:clr>
            <a:srgbClr xmlns:a="http://schemas.openxmlformats.org/drawingml/2006/main" val="F26B43"/>
          </p15:clr>
        </p15:guide>
        <p15:guide id="28" orient="horz" pos="3776" userDrawn="1">
          <p15:clr>
            <a:srgbClr xmlns:a="http://schemas.openxmlformats.org/drawingml/2006/main" val="F26B43"/>
          </p15:clr>
        </p15:guide>
        <p15:guide id="29" orient="horz" pos="4088" userDrawn="1">
          <p15:clr>
            <a:srgbClr xmlns:a="http://schemas.openxmlformats.org/drawingml/2006/main" val="F26B43"/>
          </p15:clr>
        </p15:guide>
      </p15:sldGuideLst>
    </p:ext>
  </p:extLst>
</p:sldMaster>
</file>

<file path=ppt/slideMasters/theme/theme2.xml><?xml version="1.0" encoding="utf-8"?>
<a:theme xmlns:a="http://schemas.openxmlformats.org/drawingml/2006/main" name="Default Codex Theme">
  <a:themeElements>
    <a:clrScheme name="Codex Colors">
      <a:dk1>
        <a:srgbClr val="000000"/>
      </a:dk1>
      <a:lt1>
        <a:srgbClr val="FFFFFF"/>
      </a:lt1>
      <a:dk2>
        <a:srgbClr val="00264F"/>
      </a:dk2>
      <a:lt2>
        <a:srgbClr val="D0EDFA"/>
      </a:lt2>
      <a:accent1>
        <a:srgbClr val="6DCBF4"/>
      </a:accent1>
      <a:accent2>
        <a:srgbClr val="3D8DFF"/>
      </a:accent2>
      <a:accent3>
        <a:srgbClr val="47E2C2"/>
      </a:accent3>
      <a:accent4>
        <a:srgbClr val="85DF7B"/>
      </a:accent4>
      <a:accent5>
        <a:srgbClr val="F7CB59"/>
      </a:accent5>
      <a:accent6>
        <a:srgbClr val="F67576"/>
      </a:accent6>
      <a:hlink>
        <a:srgbClr val="000000"/>
      </a:hlink>
      <a:folHlink>
        <a:srgbClr val="0097A7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Codex Colors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9b259da512f4730" /><Relationship Type="http://schemas.openxmlformats.org/officeDocument/2006/relationships/image" Target="/ppt/media/image.png" Id="R615214fc56d7447f" /><Relationship Type="http://schemas.openxmlformats.org/officeDocument/2006/relationships/notesSlide" Target="/ppt/notesSlides/notesSlide1.xml" Id="Rbb38c5f5c5da4ef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88c27dfaaee4b18" /><Relationship Type="http://schemas.openxmlformats.org/officeDocument/2006/relationships/chart" Target="/ppt/slides/charts/chart1.xml" Id="R54e05e3118a14898" /><Relationship Type="http://schemas.openxmlformats.org/officeDocument/2006/relationships/notesSlide" Target="/ppt/notesSlides/notesSlide2.xml" Id="Red486f3afa044d59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Problemas recuperados</c:v>
          </c:tx>
          <c:spPr>
            <a:solidFill xmlns:a="http://schemas.openxmlformats.org/drawingml/2006/main">
              <a:srgbClr val="3D8DFF"/>
            </a:solidFill>
          </c:spPr>
          <c:cat>
            <c:strRef>
              <c:f>'Chart Data'!$A$2:$A$5</c:f>
              <c:strCache>
                <c:ptCount val="4"/>
                <c:pt idx="0">
                  <c:v>Aleatorio</c:v>
                </c:pt>
                <c:pt idx="1">
                  <c:v>Semántico</c:v>
                </c:pt>
                <c:pt idx="2">
                  <c:v>Entropía</c:v>
                </c:pt>
                <c:pt idx="3">
                  <c:v>Margen</c:v>
                </c:pt>
              </c:strCache>
            </c:strRef>
          </c:cat>
          <c:val>
            <c:numRef>
              <c:f>'Chart Data'!$B$2:$B$5</c:f>
              <c:numCache>
                <c:formatCode>General</c:formatCode>
                <c:ptCount val="4"/>
                <c:pt idx="0">
                  <c:v>6</c:v>
                </c:pt>
                <c:pt idx="1">
                  <c:v>10</c:v>
                </c:pt>
                <c:pt idx="2">
                  <c:v>10</c:v>
                </c:pt>
                <c:pt idx="3">
                  <c:v>10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950">
                  <a:latin typeface="Helvetica Neue"/>
                  <a:ea typeface="Helvetica Neue"/>
                  <a:cs typeface="Helvetica Neue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C5959EFF-52C4-5B31-3FCE-BFF3A75CF3C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AD75FED6-38D0-DE9C-92C0-6E7FA635581C}" type="slidenum">
              <a:t>1</a:t>
            </a:fld>
            <a:endParaRPr/>
          </a:p>
        </p:txBody>
      </p:sp>
      <p:sp>
        <p:nvSpPr>
          <p:cNvPr id="533" name="">
            <a:extLst xmlns:a="http://schemas.openxmlformats.org/drawingml/2006/main">
              <a:ext uri="{FF2B5EF4-FFF2-40B4-BE49-F238E27FC236}">
                <a16:creationId xmlns:a16="http://schemas.microsoft.com/office/drawing/2014/main" id="{50B50460-11E7-4720-B9A5-3FA27A48F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109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¿Y si elegimos el segundo token?</a:t>
            </a:r>
          </a:p>
        </p:txBody>
      </p:sp>
      <p:pic>
        <p:nvPicPr>
          <p:cNvPr id="5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5214fc56d7447f"/>
          <a:stretch xmlns:a="http://schemas.openxmlformats.org/drawingml/2006/main"/>
        </p:blipFill>
        <p:spPr>
          <a:xfrm xmlns:a="http://schemas.openxmlformats.org/drawingml/2006/main">
            <a:off x="1094114" y="1714500"/>
            <a:ext cx="10003772" cy="4000500"/>
          </a:xfrm>
          <a:prstGeom xmlns:a="http://schemas.openxmlformats.org/drawingml/2006/main" prst="rect">
            <a:avLst/>
          </a:prstGeom>
        </p:spPr>
      </p:pic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D2A21B0F-6F1F-4093-AC2F-FDA626D03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200150"/>
            <a:ext cx="11410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Conservar el prefijo, cambiar una decisión, continuar.</a:t>
            </a:r>
          </a:p>
        </p:txBody>
      </p:sp>
      <p:sp>
        <p:nvSpPr>
          <p:cNvPr id="536" name="">
            <a:extLst xmlns:a="http://schemas.openxmlformats.org/drawingml/2006/main">
              <a:ext uri="{FF2B5EF4-FFF2-40B4-BE49-F238E27FC236}">
                <a16:creationId xmlns:a16="http://schemas.microsoft.com/office/drawing/2014/main" id="{CD478C48-0815-41BF-B47C-9EFD1ED18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200775"/>
            <a:ext cx="666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Matías Adolfo Koroch</a:t>
            </a:r>
          </a:p>
        </p:txBody>
      </p:sp>
      <p:sp>
        <p:nvSpPr>
          <p:cNvPr id="537" name="">
            <a:extLst xmlns:a="http://schemas.openxmlformats.org/drawingml/2006/main">
              <a:ext uri="{FF2B5EF4-FFF2-40B4-BE49-F238E27FC236}">
                <a16:creationId xmlns:a16="http://schemas.microsoft.com/office/drawing/2014/main" id="{592BB3D5-072C-4C04-BA4F-7824A3155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829300"/>
            <a:ext cx="2647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Esquema del método</a:t>
            </a:r>
          </a:p>
        </p:txBody>
      </p:sp>
    </p:spTree>
    <p:extLst>
      <p:ext uri="{BB962C8B-B14F-4D97-AF65-F5344CB8AC3E}">
        <p14:creationId xmlns:p14="http://schemas.microsoft.com/office/powerpoint/2010/main" val="54622172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C5959EFF-52C4-5B31-3FCE-BFF3A75CF3C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E2598689-54C9-18A7-3A19-ED76AA08988F}" type="slidenum">
              <a:t>2</a:t>
            </a:fld>
            <a:endParaRPr/>
          </a:p>
        </p:txBody>
      </p:sp>
      <p:sp>
        <p:nvSpPr>
          <p:cNvPr id="533" name="">
            <a:extLst xmlns:a="http://schemas.openxmlformats.org/drawingml/2006/main">
              <a:ext uri="{FF2B5EF4-FFF2-40B4-BE49-F238E27FC236}">
                <a16:creationId xmlns:a16="http://schemas.microsoft.com/office/drawing/2014/main" id="{0A908AB2-6F0A-461E-A9EE-DBD752ED3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109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Recuperación en 20 problemas</a:t>
            </a:r>
          </a:p>
        </p:txBody>
      </p:sp>
      <p:sp>
        <p:nvSpPr>
          <p:cNvPr id="534" name="">
            <a:extLst xmlns:a="http://schemas.openxmlformats.org/drawingml/2006/main">
              <a:ext uri="{FF2B5EF4-FFF2-40B4-BE49-F238E27FC236}">
                <a16:creationId xmlns:a16="http://schemas.microsoft.com/office/drawing/2014/main" id="{237BF6DC-7DE3-451A-BE7C-0A82DA100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209675"/>
            <a:ext cx="11410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Generaciones inicialmente fallidas · Hasta 5 ramas completas por problema</a:t>
            </a:r>
          </a:p>
        </p:txBody>
      </p:sp>
      <p:graphicFrame>
        <p:nvGraphicFramePr>
          <p:cNvPr id="541" name="Chart"/>
          <p:cNvGraphicFramePr/>
          <p:nvPr/>
        </p:nvGraphicFramePr>
        <p:xfrm>
          <a:off xmlns:a="http://schemas.openxmlformats.org/drawingml/2006/main" x="619125" y="1885950"/>
          <a:ext xmlns:a="http://schemas.openxmlformats.org/drawingml/2006/main" cx="10668000" cy="3095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4e05e3118a14898"/>
          </a:graphicData>
        </a:graphic>
      </p:graphicFrame>
      <p:sp>
        <p:nvSpPr>
          <p:cNvPr id="536" name="">
            <a:extLst xmlns:a="http://schemas.openxmlformats.org/drawingml/2006/main">
              <a:ext uri="{FF2B5EF4-FFF2-40B4-BE49-F238E27FC236}">
                <a16:creationId xmlns:a16="http://schemas.microsoft.com/office/drawing/2014/main" id="{6ACCB385-FEC0-4FB9-84E9-D18A8ABBF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229225"/>
            <a:ext cx="114109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rPr>
              <a:t>El selector semántico supera al azar en esta muestra,</a:t>
            </a:r>
          </a:p>
          <a:p xmlns:a="http://schemas.openxmlformats.org/drawingml/2006/main">
            <a:pPr>
              <a:defRPr sz="2250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rPr>
              <a:t>pero empata con entropía y margen.</a:t>
            </a:r>
          </a:p>
        </p:txBody>
      </p:sp>
      <p:sp>
        <p:nvSpPr>
          <p:cNvPr id="537" name="">
            <a:extLst xmlns:a="http://schemas.openxmlformats.org/drawingml/2006/main">
              <a:ext uri="{FF2B5EF4-FFF2-40B4-BE49-F238E27FC236}">
                <a16:creationId xmlns:a16="http://schemas.microsoft.com/office/drawing/2014/main" id="{3AB7D6C3-F2E4-4806-8195-49F2FF703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26745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Tests base de HumanEval. Pendiente: HumanEval+ y costo total.</a:t>
            </a:r>
          </a:p>
        </p:txBody>
      </p:sp>
    </p:spTree>
    <p:extLst>
      <p:ext uri="{BB962C8B-B14F-4D97-AF65-F5344CB8AC3E}">
        <p14:creationId xmlns:p14="http://schemas.microsoft.com/office/powerpoint/2010/main" val="546221724"/>
      </p:ext>
    </p:extLst>
  </p:cSld>
</p:sld>
</file>

<file path=ppt/theme/theme1.xml><?xml version="1.0" encoding="utf-8"?>
<a:theme xmlns:a="http://schemas.openxmlformats.org/drawingml/2006/main" name="Default Codex Theme">
  <a:themeElements>
    <a:clrScheme name="Codex Colors">
      <a:dk1>
        <a:srgbClr val="000000"/>
      </a:dk1>
      <a:lt1>
        <a:srgbClr val="FFFFFF"/>
      </a:lt1>
      <a:dk2>
        <a:srgbClr val="00264F"/>
      </a:dk2>
      <a:lt2>
        <a:srgbClr val="D0EDFA"/>
      </a:lt2>
      <a:accent1>
        <a:srgbClr val="6DCBF4"/>
      </a:accent1>
      <a:accent2>
        <a:srgbClr val="3D8DFF"/>
      </a:accent2>
      <a:accent3>
        <a:srgbClr val="47E2C2"/>
      </a:accent3>
      <a:accent4>
        <a:srgbClr val="85DF7B"/>
      </a:accent4>
      <a:accent5>
        <a:srgbClr val="F7CB59"/>
      </a:accent5>
      <a:accent6>
        <a:srgbClr val="F67576"/>
      </a:accent6>
      <a:hlink>
        <a:srgbClr val="000000"/>
      </a:hlink>
      <a:folHlink>
        <a:srgbClr val="0097A7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Codex Colors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2026-09-07T19:24:00.7940000Z</dcterms:created>
  <dcterms:modified xsi:type="dcterms:W3CDTF">2026-09-07T19:24:00.7940000Z</dcterms:modified>
</coreProperties>
</file>